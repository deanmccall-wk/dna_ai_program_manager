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Redshift Shutdown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9B6F6"/>
                </a:solidFill>
              </a:defRPr>
            </a:pPr>
            <a:r>
              <a:t>Phased Consumer Cutover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</a:defRPr>
            </a:pPr>
            <a:r>
              <a:t>Data Platform Team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Current State: Cluster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560320" cy="13716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29B6F6"/>
                </a:solidFill>
              </a:defRPr>
            </a:pPr>
            <a:r>
              <a:t>5 x ra3.16xl</a:t>
            </a:r>
          </a:p>
          <a:p>
            <a:pPr algn="ctr">
              <a:defRPr sz="1300">
                <a:solidFill>
                  <a:srgbClr val="B0B0B0"/>
                </a:solidFill>
              </a:defRPr>
            </a:pPr>
            <a:r>
              <a:t>Nodes</a:t>
            </a:r>
          </a:p>
          <a:p>
            <a:pPr algn="ctr">
              <a:defRPr sz="1100">
                <a:solidFill>
                  <a:srgbClr val="B0B0B0"/>
                </a:solidFill>
              </a:defRPr>
            </a:pPr>
            <a:r>
              <a:t>ito-ds-redshift-dsredshift-kfbgevo589gl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188720"/>
            <a:ext cx="2560320" cy="13716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29B6F6"/>
                </a:solidFill>
              </a:defRPr>
            </a:pPr>
            <a:r>
              <a:t>43.5%</a:t>
            </a:r>
          </a:p>
          <a:p>
            <a:pPr algn="ctr">
              <a:defRPr sz="1300">
                <a:solidFill>
                  <a:srgbClr val="B0B0B0"/>
                </a:solidFill>
              </a:defRPr>
            </a:pPr>
            <a:r>
              <a:t>Peak CPU (hourly avg)</a:t>
            </a:r>
          </a:p>
          <a:p>
            <a:pPr algn="ctr">
              <a:defRPr sz="1100">
                <a:solidFill>
                  <a:srgbClr val="B0B0B0"/>
                </a:solidFill>
              </a:defRPr>
            </a:pPr>
            <a:r>
              <a:t>Room to resize to 3 nodes (~73%)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188720"/>
            <a:ext cx="2560320" cy="13716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29B6F6"/>
                </a:solidFill>
              </a:defRPr>
            </a:pPr>
            <a:r>
              <a:t>10.5%</a:t>
            </a:r>
          </a:p>
          <a:p>
            <a:pPr algn="ctr">
              <a:defRPr sz="1300">
                <a:solidFill>
                  <a:srgbClr val="B0B0B0"/>
                </a:solidFill>
              </a:defRPr>
            </a:pPr>
            <a:r>
              <a:t>Disk Used</a:t>
            </a:r>
          </a:p>
          <a:p>
            <a:pPr algn="ctr">
              <a:defRPr sz="1100">
                <a:solidFill>
                  <a:srgbClr val="B0B0B0"/>
                </a:solidFill>
              </a:defRPr>
            </a:pPr>
            <a:r>
              <a:t>RA3 managed storage -- not a constraint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1188720"/>
            <a:ext cx="2560320" cy="13716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29B6F6"/>
                </a:solidFill>
              </a:defRPr>
            </a:pPr>
            <a:r>
              <a:t>123</a:t>
            </a:r>
          </a:p>
          <a:p>
            <a:pPr algn="ctr">
              <a:defRPr sz="1300">
                <a:solidFill>
                  <a:srgbClr val="B0B0B0"/>
                </a:solidFill>
              </a:defRPr>
            </a:pPr>
            <a:r>
              <a:t>Peak Connections</a:t>
            </a:r>
          </a:p>
          <a:p>
            <a:pPr algn="ctr">
              <a:defRPr sz="1100">
                <a:solidFill>
                  <a:srgbClr val="B0B0B0"/>
                </a:solidFill>
              </a:defRPr>
            </a:pPr>
            <a:r>
              <a:t>Trending down from Aug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6A"/>
                </a:solidFill>
              </a:defRPr>
            </a:pPr>
            <a:r>
              <a:t>All data has been migrated to Snowflake. Redshift is no longer the source of truth.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Active users down from 36 (Aug) to 22 -- but query volume flat at ~100K/day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Automated processes dominate: Overlord, dbt, Fivetran, MV refreshes account for 99%+ of queries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Concurrency scaling already at $0 (was $8-13K/mo in Q1)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Cluster cannot be turned off until all consumers are re-pointed or disabled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Current State: Daily Cost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097280"/>
            <a:ext cx="4572000" cy="16459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EF5350"/>
                </a:solidFill>
              </a:defRPr>
            </a:pPr>
            <a:r>
              <a:t>$1,556/day</a:t>
            </a:r>
          </a:p>
          <a:p>
            <a:pPr algn="ctr">
              <a:defRPr sz="1300">
                <a:solidFill>
                  <a:srgbClr val="B0B0B0"/>
                </a:solidFill>
              </a:defRPr>
            </a:pPr>
            <a:r>
              <a:t>Total Daily Spend</a:t>
            </a:r>
          </a:p>
          <a:p>
            <a:pPr algn="ctr">
              <a:defRPr sz="1100">
                <a:solidFill>
                  <a:srgbClr val="B0B0B0"/>
                </a:solidFill>
              </a:defRPr>
            </a:pPr>
            <a:r>
              <a:t>$47,225/month  |  $567K annualized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108960"/>
          <a:ext cx="10515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Daily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Annualized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Compute (5 x ra3.16xlarge)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$1,267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$38,500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$462,500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Fixed until resized or terminated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Spectrum (S3 data scanned)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$149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$4,500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$54,400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Variable -- drops with MV shutoff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Managed Storage (RMS)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$41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$1,250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$15,000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Fixed until terminated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Snapshots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$9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$275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$3,300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Fixed until deleted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Fivetran MAR (RS destination)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$90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$2,700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$32,400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Variable -- drops to $0 when paused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Current State: Active Consumers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B0"/>
                </a:solidFill>
              </a:defRPr>
            </a:pPr>
            <a:r>
              <a:t>The cluster stays on because these automated processes still read from it: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515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Consumer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Queries (7d)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Avg Daily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Overlord + MV Refreshes (datasciadmin)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412,624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~47,000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57.7%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52 orphaned MVs; active ones need cutover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Fivetran (service_fivetran)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124,431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~39,000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17.4%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8 of 18 connectors orphaned; 10 have active RS consumers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dbt Cloud (service_dbt)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138,800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~19,000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19.4%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RS dbt models to be replaced by Snowflake models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QuickSight (service_qs_*)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11,818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~9,600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1.7%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ECM dashboards in progress (DNA-6080)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Amplitude (service_amplitude)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10,596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~1,050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1.5%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Evaluate consumer dependency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InfoSec (service_security)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7,406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~1,000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Runs until cluster off -- no action needed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Human users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~5,500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~113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&lt;1%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22 active, ~130 inactive (can disable)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The Plan: Phased Shutdown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Weekly Savings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Monthly Savings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1. Quick Wins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Pause 8 orphaned Fivetran connectors, stop 52 orphan MVs, disable inactive users &amp; jobs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$735/wk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$3.2K/mo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Ready now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2. Resize 5 to 3 nodes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Elastic resize -- CloudWatch confirms safe (43.5% peak CPU)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$3,549/wk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$15.4K/mo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Ready after Phase 1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3. Consumer Cutover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Re-point remaining dbt, Overlord, and QuickSight consumers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Enables 4 &amp; 5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4. Resize 3 to 2 nodes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After workload reduction drops peak CPU below 35%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$1,771/wk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$7.7K/mo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Blocked on Phase 3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5. Full Shutdown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Terminate cluster after 7 days at 0 queries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$4,207/wk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$18.3K/mo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Blocked on OpenAir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6A"/>
                </a:solidFill>
              </a:defRPr>
            </a:pPr>
            <a:r>
              <a:t>Phases 1 + 2 deliver $18.6K/month savings and can be executed immediately.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5350"/>
                </a:solidFill>
              </a:defRPr>
            </a:pPr>
            <a:r>
              <a:t>Critical path to full shutdown: OpenAir reverse ETL (SOX-compliant, 23 jobs, Finance sign-off).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Savings Trajectory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 Complete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Daily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Weekly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Today (assessment done)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Phase 1 executed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$105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$735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$3,167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Resized to 3 nodes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$612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$4,284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$18,567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Consumers cut over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$612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$4,284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$18,567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Resized to 2 nodes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$865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$6,055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$26,250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Full shutdown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$1,556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$10,892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$47,225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A726"/>
                </a:solidFill>
              </a:defRPr>
            </a:pPr>
            <a:r>
              <a:t>Every day we delay Phase 1 costs $105.  Every day we delay the resize costs another $507.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Assessment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B0"/>
                </a:solidFill>
              </a:defRPr>
            </a:pPr>
            <a:r>
              <a:t>We inventoried every object in Redshift and classified it by activity and load mechanism: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60320" cy="12801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42A5F5"/>
                </a:solidFill>
              </a:defRPr>
            </a:pPr>
            <a:r>
              <a:t>1,136</a:t>
            </a:r>
          </a:p>
          <a:p>
            <a:pPr algn="ctr">
              <a:defRPr sz="1300">
                <a:solidFill>
                  <a:srgbClr val="B0B0B0"/>
                </a:solidFill>
              </a:defRPr>
            </a:pPr>
            <a:r>
              <a:t>Landing Tables</a:t>
            </a:r>
          </a:p>
          <a:p>
            <a:pPr algn="ctr">
              <a:defRPr sz="1100">
                <a:solidFill>
                  <a:srgbClr val="B0B0B0"/>
                </a:solidFill>
              </a:defRPr>
            </a:pPr>
            <a:r>
              <a:t>Where data first enters Redshift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737360"/>
            <a:ext cx="2560320" cy="12801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66BB6A"/>
                </a:solidFill>
              </a:defRPr>
            </a:pPr>
            <a:r>
              <a:t>970</a:t>
            </a:r>
          </a:p>
          <a:p>
            <a:pPr algn="ctr">
              <a:defRPr sz="1300">
                <a:solidFill>
                  <a:srgbClr val="B0B0B0"/>
                </a:solidFill>
              </a:defRPr>
            </a:pPr>
            <a:r>
              <a:t>Active Landing Tables</a:t>
            </a:r>
          </a:p>
          <a:p>
            <a:pPr algn="ctr">
              <a:defRPr sz="1100">
                <a:solidFill>
                  <a:srgbClr val="B0B0B0"/>
                </a:solidFill>
              </a:defRPr>
            </a:pPr>
            <a:r>
              <a:t>Have query activity in last 10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737360"/>
            <a:ext cx="2560320" cy="12801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EF5350"/>
                </a:solidFill>
              </a:defRPr>
            </a:pPr>
            <a:r>
              <a:t>166</a:t>
            </a:r>
          </a:p>
          <a:p>
            <a:pPr algn="ctr">
              <a:defRPr sz="1300">
                <a:solidFill>
                  <a:srgbClr val="B0B0B0"/>
                </a:solidFill>
              </a:defRPr>
            </a:pPr>
            <a:r>
              <a:t>Orphaned Landing Tables</a:t>
            </a:r>
          </a:p>
          <a:p>
            <a:pPr algn="ctr">
              <a:defRPr sz="1100">
                <a:solidFill>
                  <a:srgbClr val="B0B0B0"/>
                </a:solidFill>
              </a:defRPr>
            </a:pPr>
            <a:r>
              <a:t>Zero consumer reads -- safe to stop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737360"/>
            <a:ext cx="2560320" cy="12801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EF5350"/>
                </a:solidFill>
              </a:defRPr>
            </a:pPr>
            <a:r>
              <a:t>52</a:t>
            </a:r>
          </a:p>
          <a:p>
            <a:pPr algn="ctr">
              <a:defRPr sz="1300">
                <a:solidFill>
                  <a:srgbClr val="B0B0B0"/>
                </a:solidFill>
              </a:defRPr>
            </a:pPr>
            <a:r>
              <a:t>Orphaned MVs</a:t>
            </a:r>
          </a:p>
          <a:p>
            <a:pPr algn="ctr">
              <a:defRPr sz="1100">
                <a:solidFill>
                  <a:srgbClr val="B0B0B0"/>
                </a:solidFill>
              </a:defRPr>
            </a:pPr>
            <a:r>
              <a:t>Refreshing daily, nobody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B6F6"/>
                </a:solidFill>
              </a:defRPr>
            </a:pPr>
            <a:r>
              <a:t>Approach: physical read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Tracked every physical table read over a 10-day window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Objects with zero consumer reads are confirmed orphans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Initial text-based analysis found ~150 orphans; physical tracking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corrected this to 52 (queries read through intermediate views)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B6F6"/>
                </a:solidFill>
              </a:defRPr>
            </a:pPr>
            <a:r>
              <a:t>Approach: lineage for active consumers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For active objects: Atlan lineage maps the full dependency chain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Example: mv_spectrum.workiva_workspace feeds 234 downstream objects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-- 12 direct dependents, 100 dbt models, 82 views, 9 QS datasets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This tells us what to re-point before we can turn off each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Blockers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5350"/>
                </a:solidFill>
              </a:defRPr>
            </a:pPr>
            <a:r>
              <a:t>OpenAir Reverse 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23 bidirectional Salesforce-OpenAir sync jobs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SOX-compliant, revenue-impacting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Requires Finance/Accounting sign-off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Cross-team: CPX, BizTech, Finance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Non-prod environment provisioning delayed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5350"/>
                </a:solidFill>
              </a:defRPr>
            </a:pPr>
            <a:r>
              <a:t>FedRAMP Boundary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6459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Tennessee Valley Authority is FedRAMP sponsor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Must accept removal of Redshift from FedRAMP boundary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Acceptance has not been received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Blocks full cluster termination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726"/>
                </a:solidFill>
              </a:defRPr>
            </a:pPr>
            <a:r>
              <a:t>ECM QuickSight 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QuickSight datasets still reading from Redshift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DNA-6080 in progress (Alexandre Cerqueira)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726"/>
                </a:solidFill>
              </a:defRPr>
            </a:pPr>
            <a:r>
              <a:t>Jira Pipeline Missing in Snowflake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4747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No equivalent pipeline exists in Snowflake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Downstream dbt models and views depend on it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3-4 weeks to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BB6A"/>
                </a:solidFill>
              </a:defRPr>
            </a:pPr>
            <a:r>
              <a:t>OpenAir, FedRAMP, and Jira block full shutdown but do NOT block the resize to 3 nodes.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Savings Impact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Sept 15-19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Phase 1: Pause 8 Fivetran connectors, stop 52 orphan MVs, disable inactive users &amp; Overlord jobs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$735/wk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Data Platform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Sept 22-26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Phase 2: Resize cluster from 5 to 3 nodes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+$3,549/wk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Data Platform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Sept 22-30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ECM QuickSight migration complete (DNA-6080)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Alison Weingarten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Sept 22 - Oct 10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Consumer cutover: map lineage, assign tickets by team, re-point consumers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Data Platform + stakeholders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Oct 6-17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Jira pipeline stood up in Snowflake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Data Platform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Oct 13-31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OpenAir reverse ETL cutover (SOX, Finance sign-off)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CPX / BizTech / Finance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TBD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FedRAMP boundary change accepted by Tennessee Valley Authority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Security / Compliance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Late Oct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Phase 4: Resize 3 to 2 nodes (after CPU drops below 35%)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+$1,771/wk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Data Platform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Nov 1 target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Phase 5: Terminate cluster (after 7 days at 0 queries)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+$4,207/wk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Data Platform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6A"/>
                </a:solidFill>
              </a:defRPr>
            </a:pPr>
            <a:r>
              <a:t>Target: $0 Redshift by November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5350"/>
                </a:solidFill>
              </a:defRPr>
            </a:pPr>
            <a:r>
              <a:t>Risks: OpenAir SOX sign-off and FedRAMP acceptance could push past October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6BB6A"/>
                </a:solidFill>
              </a:defRPr>
            </a:pPr>
            <a:r>
              <a:t>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Execute Phase 1: pause 8 orphaned Fivetran connectors, stop 52 orphan MVs,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disable 8 dormant Overlord jobs, disable ~130 inactive users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Submit cluster resize from 5 to 3 nodes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Combined impact: $612/day savings ($223K annualized)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726"/>
                </a:solidFill>
              </a:defRPr>
            </a:pPr>
            <a:r>
              <a:t>Coming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Run lineage extraction for all 843 active landing tables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Group remaining consumers by owning team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Create cutover tickets -- track progress via daily scan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A5F5"/>
                </a:solidFill>
              </a:defRPr>
            </a:pPr>
            <a:r>
              <a:t>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Are we aligned on the phased approach?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Who owns the resize change window?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How do we assign consumer cutover work by team?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Escalation path for OpenAir SOX dependency?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